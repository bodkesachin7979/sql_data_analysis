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Default ContentType="image/jpeg" Extension="jpeg"/>
  <Default ContentType="image/jpg" Extension="jpg"/>
  <Default ContentType="image/svg+xml" Extension="svg"/>
  <Default ContentType="image/png" Extension="png"/>
  <Default ContentType="image/gif" Extension="gif"/>
  <Default ContentType="video/mp4" Extension="m4v"/>
  <Default ContentType="video/mp4" Extension="mp4"/>
  <Default ContentType="application/vnd.openxmlformats-officedocument.vmlDrawing" Extension="vml"/>
  <Default ContentType="application/vnd.openxmlformats-officedocument.spreadsheetml.sheet" Extension="xlsx"/>
  <Override ContentType="application/vnd.openxmlformats-officedocument.presentationml.presentation.main+xml" PartName="/ppt/presentation.xml"/>
  <Override ContentType="application/vnd.openxmlformats-officedocument.presentationml.notesMaster+xml" PartName="/ppt/notesMasters/notesMaster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3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5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6.xml"/>
  <Override ContentType="application/vnd.openxmlformats-officedocument.presentationml.slideMaster+xml" PartName="/ppt/slideMasters/slideMaster7.xml"/>
  <Override ContentType="application/vnd.openxmlformats-officedocument.presentationml.slide+xml" PartName="/ppt/slides/slide7.xml"/>
  <Override ContentType="application/vnd.openxmlformats-officedocument.presentationml.slideMaster+xml" PartName="/ppt/slideMasters/slideMaster8.xml"/>
  <Override ContentType="application/vnd.openxmlformats-officedocument.presentationml.slide+xml" PartName="/ppt/slides/slide8.xml"/>
  <Override ContentType="application/vnd.openxmlformats-officedocument.presentationml.slideMaster+xml" PartName="/ppt/slideMasters/slideMaster9.xml"/>
  <Override ContentType="application/vnd.openxmlformats-officedocument.presentationml.slide+xml" PartName="/ppt/slides/slide9.xml"/>
  <Override ContentType="application/vnd.openxmlformats-officedocument.presentationml.slideMaster+xml" PartName="/ppt/slideMasters/slideMaster10.xml"/>
  <Override ContentType="application/vnd.openxmlformats-officedocument.presentationml.slide+xml" PartName="/ppt/slides/slide10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
		<Relationship Id="rId1" Target="docProps/app.xml" Type="http://schemas.openxmlformats.org/officeDocument/2006/relationships/extended-properties"/>
		<Relationship Id="rId2" Target="docProps/core.xml" Type="http://schemas.openxmlformats.org/package/2006/relationships/metadata/core-properties"/>
		<Relationship Id="rId3" Target="ppt/presentation.xml" Type="http://schemas.openxmlformats.org/officeDocument/2006/relationships/officeDocument"/>
		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Spline Sans"/>
      <p:regular r:id="rId17"/>
    </p:embeddedFont>
    <p:embeddedFont>
      <p:font typeface="Spline Sans"/>
      <p:regular r:id="rId18"/>
    </p:embeddedFont>
    <p:embeddedFont>
      <p:font typeface="Barlow"/>
      <p:regular r:id="rId19"/>
    </p:embeddedFont>
    <p:embeddedFont>
      <p:font typeface="Barlow"/>
      <p:regular r:id="rId20"/>
    </p:embeddedFont>
    <p:embeddedFont>
      <p:font typeface="Barlow"/>
      <p:regular r:id="rId21"/>
    </p:embeddedFont>
    <p:embeddedFont>
      <p:font typeface="Barlow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arget="../media/image-1-1.jpeg" Type="http://schemas.openxmlformats.org/officeDocument/2006/relationships/image"/><Relationship Id="rId2" Target="../slideLayouts/slideLayout2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 ?><Relationships xmlns="http://schemas.openxmlformats.org/package/2006/relationships"><Relationship Id="rId1" Target="../media/image-2-1.jpeg" Type="http://schemas.openxmlformats.org/officeDocument/2006/relationships/image"/><Relationship Id="rId2" Target="../slideLayouts/slideLayout3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 ?><Relationships xmlns="http://schemas.openxmlformats.org/package/2006/relationships"><Relationship Id="rId1" Target="../media/image-3-1.jpeg" Type="http://schemas.openxmlformats.org/officeDocument/2006/relationships/image"/><Relationship Id="rId2" Target="../slideLayouts/slideLayout4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 ?><Relationships xmlns="http://schemas.openxmlformats.org/package/2006/relationships"><Relationship Id="rId1" Target="../media/image-4-1.jpeg" Type="http://schemas.openxmlformats.org/officeDocument/2006/relationships/image"/><Relationship Id="rId2" Target="../media/image-4-2.png" Type="http://schemas.openxmlformats.org/officeDocument/2006/relationships/image"/><Relationship Id="rId3" Target="../media/image-4-3.svg" Type="http://schemas.openxmlformats.org/officeDocument/2006/relationships/image"/><Relationship Id="rId4" Target="../media/image-4-4.png" Type="http://schemas.openxmlformats.org/officeDocument/2006/relationships/image"/><Relationship Id="rId5" Target="../media/image-4-5.svg" Type="http://schemas.openxmlformats.org/officeDocument/2006/relationships/image"/><Relationship Id="rId6" Target="../media/image-4-6.png" Type="http://schemas.openxmlformats.org/officeDocument/2006/relationships/image"/><Relationship Id="rId7" Target="../media/image-4-7.svg" Type="http://schemas.openxmlformats.org/officeDocument/2006/relationships/image"/><Relationship Id="rId8" Target="../slideLayouts/slideLayout5.xml" Type="http://schemas.openxmlformats.org/officeDocument/2006/relationships/slideLayout"/><Relationship Id="rId9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 ?><Relationships xmlns="http://schemas.openxmlformats.org/package/2006/relationships"><Relationship Id="rId1" Target="../media/image-6-1.jpeg" Type="http://schemas.openxmlformats.org/officeDocument/2006/relationships/image"/><Relationship Id="rId2" Target="../slideLayouts/slideLayout7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 ?><Relationships xmlns="http://schemas.openxmlformats.org/package/2006/relationships"><Relationship Id="rId1" Target="../media/image-7-1.jpeg" Type="http://schemas.openxmlformats.org/officeDocument/2006/relationships/image"/><Relationship Id="rId2" Target="../slideLayouts/slideLayout8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 ?><Relationships xmlns="http://schemas.openxmlformats.org/package/2006/relationships"><Relationship Id="rId1" Target="../media/image-8-1.jpeg" Type="http://schemas.openxmlformats.org/officeDocument/2006/relationships/image"/><Relationship Id="rId2" Target="../media/image-8-2.png" Type="http://schemas.openxmlformats.org/officeDocument/2006/relationships/image"/><Relationship Id="rId3" Target="../media/image-8-3.png" Type="http://schemas.openxmlformats.org/officeDocument/2006/relationships/image"/><Relationship Id="rId4" Target="../media/image-8-4.png" Type="http://schemas.openxmlformats.org/officeDocument/2006/relationships/image"/><Relationship Id="rId5" Target="../slideLayouts/slideLayout9.xml" Type="http://schemas.openxmlformats.org/officeDocument/2006/relationships/slideLayout"/><Relationship Id="rId6" Target="../notesSlides/notesSlide8.xml" Type="http://schemas.openxmlformats.org/officeDocument/2006/relationships/notesSlide"/></Relationships>
</file>

<file path=ppt/slides/_rels/slide9.xml.rels><?xml version="1.0" encoding="UTF-8" standalone="yes" ?><Relationships xmlns="http://schemas.openxmlformats.org/package/2006/relationships"><Relationship Id="rId1" Target="../media/image-9-1.jpeg" Type="http://schemas.openxmlformats.org/officeDocument/2006/relationships/image"/><Relationship Id="rId2" Target="../slideLayouts/slideLayout10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_rels/slide10.xml.rels><?xml version="1.0" encoding="UTF-8" standalone="yes" ?><Relationships xmlns="http://schemas.openxmlformats.org/package/2006/relationships"><Relationship Id="rId1" Target="../media/image-10-1.jpeg" Type="http://schemas.openxmlformats.org/officeDocument/2006/relationships/image"/><Relationship Id="rId2" Target="../slideLayouts/slideLayout1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3191708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Retail Sales Analysis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247793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Comprehensive SQL-driven insights on transaction data, customer behavior, and operational patterns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151459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Project Scope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3330893"/>
            <a:ext cx="22662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10K+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864037" y="4454009"/>
            <a:ext cx="22662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Transactions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864037" y="4945023"/>
            <a:ext cx="226623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Multi-year dataset analyzed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438882" y="3330893"/>
            <a:ext cx="22662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1.5K+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3438882" y="4454009"/>
            <a:ext cx="22662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Unique Customers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3438882" y="5287923"/>
            <a:ext cx="226623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Diverse customer base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013728" y="3330893"/>
            <a:ext cx="22662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6013728" y="4454009"/>
            <a:ext cx="22662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Major Categories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013728" y="4945023"/>
            <a:ext cx="226623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Cross-category analysis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307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0822" y="3751064"/>
            <a:ext cx="6169223" cy="683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Quality Foundation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0822" y="5048964"/>
            <a:ext cx="2732961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Methodology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0822" y="5636300"/>
            <a:ext cx="7505224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SQL-driven exploratory data analysis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0822" y="6115883"/>
            <a:ext cx="7505224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Diagnostic pattern recognition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0822" y="6595467"/>
            <a:ext cx="7505224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Missing values removed for integrity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0822" y="7075051"/>
            <a:ext cx="7505224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Validated data consistency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973741" y="5048964"/>
            <a:ext cx="2732961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Source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8973741" y="5636300"/>
            <a:ext cx="4803458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retail_db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973741" y="6251138"/>
            <a:ext cx="4803458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Comprehensive transaction records with customer demographics and temporal data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8055" y="676989"/>
            <a:ext cx="7055048" cy="68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Sales Performance Insights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48055" y="1729978"/>
            <a:ext cx="3587234" cy="3157061"/>
          </a:xfrm>
          <a:prstGeom prst="roundRect">
            <a:avLst>
              <a:gd name="adj" fmla="val 11698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24637" y="2006560"/>
            <a:ext cx="738545" cy="738545"/>
          </a:xfrm>
          <a:prstGeom prst="roundRect">
            <a:avLst>
              <a:gd name="adj" fmla="val 12379863"/>
            </a:avLst>
          </a:prstGeom>
          <a:solidFill>
            <a:srgbClr val="16FFB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7758" y="2209681"/>
            <a:ext cx="332303" cy="3323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24637" y="2991207"/>
            <a:ext cx="2735580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Category Revenue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6624637" y="3480792"/>
            <a:ext cx="3034070" cy="787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Significant dispersion across product categories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10181392" y="1729978"/>
            <a:ext cx="3587353" cy="3157061"/>
          </a:xfrm>
          <a:prstGeom prst="roundRect">
            <a:avLst>
              <a:gd name="adj" fmla="val 11698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457974" y="2006560"/>
            <a:ext cx="738545" cy="738545"/>
          </a:xfrm>
          <a:prstGeom prst="roundRect">
            <a:avLst>
              <a:gd name="adj" fmla="val 12379863"/>
            </a:avLst>
          </a:prstGeom>
          <a:solidFill>
            <a:srgbClr val="29DDD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1094" y="2209681"/>
            <a:ext cx="332303" cy="33230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457974" y="2991207"/>
            <a:ext cx="3034189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High-Value Transactions</a:t>
            </a:r>
            <a:endParaRPr lang="en-US" sz="2150" dirty="0"/>
          </a:p>
        </p:txBody>
      </p:sp>
      <p:sp>
        <p:nvSpPr>
          <p:cNvPr id="13" name="Text 8"/>
          <p:cNvSpPr/>
          <p:nvPr/>
        </p:nvSpPr>
        <p:spPr>
          <a:xfrm>
            <a:off x="10457974" y="3822740"/>
            <a:ext cx="3034189" cy="787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Multiple orders exceeding $1,000 identified</a:t>
            </a:r>
            <a:endParaRPr lang="en-US" sz="1900" dirty="0"/>
          </a:p>
        </p:txBody>
      </p:sp>
      <p:sp>
        <p:nvSpPr>
          <p:cNvPr id="14" name="Shape 9"/>
          <p:cNvSpPr/>
          <p:nvPr/>
        </p:nvSpPr>
        <p:spPr>
          <a:xfrm>
            <a:off x="6348055" y="5133142"/>
            <a:ext cx="7420689" cy="2421255"/>
          </a:xfrm>
          <a:prstGeom prst="roundRect">
            <a:avLst>
              <a:gd name="adj" fmla="val 15253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624637" y="5409724"/>
            <a:ext cx="738545" cy="738545"/>
          </a:xfrm>
          <a:prstGeom prst="roundRect">
            <a:avLst>
              <a:gd name="adj" fmla="val 12379863"/>
            </a:avLst>
          </a:prstGeom>
          <a:solidFill>
            <a:srgbClr val="37A7E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27758" y="5612844"/>
            <a:ext cx="332303" cy="33230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24637" y="6394371"/>
            <a:ext cx="2839998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Performance Patterns</a:t>
            </a:r>
            <a:endParaRPr lang="en-US" sz="2150" dirty="0"/>
          </a:p>
        </p:txBody>
      </p:sp>
      <p:sp>
        <p:nvSpPr>
          <p:cNvPr id="18" name="Text 12"/>
          <p:cNvSpPr/>
          <p:nvPr/>
        </p:nvSpPr>
        <p:spPr>
          <a:xfrm>
            <a:off x="6624637" y="6883956"/>
            <a:ext cx="6867525" cy="39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Clear monthly ranking variations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045250"/>
            <a:ext cx="724816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Customer Behavior Analysis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2494002" y="3829526"/>
            <a:ext cx="3036689" cy="61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850"/>
              </a:lnSpc>
              <a:buNone/>
            </a:pPr>
            <a:r>
              <a:rPr lang="en-US" sz="4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</a:t>
            </a:r>
            <a:endParaRPr lang="en-US" sz="4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746" y="2286476"/>
            <a:ext cx="3703320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40806" y="629828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Top Contributors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864037" y="6789301"/>
            <a:ext cx="62968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 5 customers drive major revenue share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099471" y="3829526"/>
            <a:ext cx="3036689" cy="61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850"/>
              </a:lnSpc>
              <a:buNone/>
            </a:pPr>
            <a:r>
              <a:rPr lang="en-US" sz="4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100%</a:t>
            </a:r>
            <a:endParaRPr lang="en-US" sz="4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6215" y="2286476"/>
            <a:ext cx="3703320" cy="3703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61502" y="6298287"/>
            <a:ext cx="291274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Demographic Patterns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7469505" y="6789301"/>
            <a:ext cx="62968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Clear category preferences by customer segments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293852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Temporal Patterns Discovered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1141690" y="3035737"/>
            <a:ext cx="30480" cy="3900011"/>
          </a:xfrm>
          <a:prstGeom prst="roundRect">
            <a:avLst>
              <a:gd name="adj" fmla="val 1215000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388924" y="3298150"/>
            <a:ext cx="740569" cy="30480"/>
          </a:xfrm>
          <a:prstGeom prst="roundRect">
            <a:avLst>
              <a:gd name="adj" fmla="val 1215000"/>
            </a:avLst>
          </a:prstGeom>
          <a:solidFill>
            <a:srgbClr val="16FFBB"/>
          </a:solidFill>
          <a:ln/>
        </p:spPr>
      </p:sp>
      <p:sp>
        <p:nvSpPr>
          <p:cNvPr id="6" name="Shape 3"/>
          <p:cNvSpPr/>
          <p:nvPr/>
        </p:nvSpPr>
        <p:spPr>
          <a:xfrm>
            <a:off x="863977" y="3035737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77086" y="3107650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2376130" y="3120509"/>
            <a:ext cx="28051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Monthly Performance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2376130" y="3611523"/>
            <a:ext cx="590383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Window functions reveal ranking shifts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388924" y="4762738"/>
            <a:ext cx="740569" cy="30480"/>
          </a:xfrm>
          <a:prstGeom prst="roundRect">
            <a:avLst>
              <a:gd name="adj" fmla="val 1215000"/>
            </a:avLst>
          </a:prstGeom>
          <a:solidFill>
            <a:srgbClr val="29DDDA"/>
          </a:solidFill>
          <a:ln/>
        </p:spPr>
      </p:sp>
      <p:sp>
        <p:nvSpPr>
          <p:cNvPr id="11" name="Shape 8"/>
          <p:cNvSpPr/>
          <p:nvPr/>
        </p:nvSpPr>
        <p:spPr>
          <a:xfrm>
            <a:off x="863977" y="4500324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7086" y="4572238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2376130" y="458509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Time-of-Day Impact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2376130" y="5076111"/>
            <a:ext cx="590383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Order volume varies by hour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1388924" y="6227326"/>
            <a:ext cx="740569" cy="30480"/>
          </a:xfrm>
          <a:prstGeom prst="roundRect">
            <a:avLst>
              <a:gd name="adj" fmla="val 1215000"/>
            </a:avLst>
          </a:prstGeom>
          <a:solidFill>
            <a:srgbClr val="37A7E7"/>
          </a:solidFill>
          <a:ln/>
        </p:spPr>
      </p:sp>
      <p:sp>
        <p:nvSpPr>
          <p:cNvPr id="16" name="Shape 13"/>
          <p:cNvSpPr/>
          <p:nvPr/>
        </p:nvSpPr>
        <p:spPr>
          <a:xfrm>
            <a:off x="863977" y="5964912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7086" y="6036826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2376130" y="604968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Seasonal Trends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2376130" y="6540698"/>
            <a:ext cx="590383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Multi-year patterns identified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425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1833" y="475655"/>
            <a:ext cx="4332208" cy="48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SQL Techniques Applied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091833" y="1475065"/>
            <a:ext cx="7933134" cy="1248728"/>
          </a:xfrm>
          <a:prstGeom prst="roundRect">
            <a:avLst>
              <a:gd name="adj" fmla="val 8787"/>
            </a:avLst>
          </a:prstGeom>
          <a:solidFill>
            <a:srgbClr val="0A081B">
              <a:alpha val="7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091833" y="1452205"/>
            <a:ext cx="7933134" cy="91440"/>
          </a:xfrm>
          <a:prstGeom prst="roundRect">
            <a:avLst>
              <a:gd name="adj" fmla="val 283780"/>
            </a:avLst>
          </a:prstGeom>
          <a:solidFill>
            <a:srgbClr val="16FFBB"/>
          </a:solidFill>
          <a:ln/>
        </p:spPr>
      </p:sp>
      <p:sp>
        <p:nvSpPr>
          <p:cNvPr id="6" name="Shape 3"/>
          <p:cNvSpPr/>
          <p:nvPr/>
        </p:nvSpPr>
        <p:spPr>
          <a:xfrm>
            <a:off x="9798963" y="1215628"/>
            <a:ext cx="518874" cy="518874"/>
          </a:xfrm>
          <a:prstGeom prst="roundRect">
            <a:avLst>
              <a:gd name="adj" fmla="val 176228"/>
            </a:avLst>
          </a:prstGeom>
          <a:solidFill>
            <a:srgbClr val="16FFBB"/>
          </a:solidFill>
          <a:ln/>
        </p:spPr>
      </p:sp>
      <p:sp>
        <p:nvSpPr>
          <p:cNvPr id="7" name="Text 4"/>
          <p:cNvSpPr/>
          <p:nvPr/>
        </p:nvSpPr>
        <p:spPr>
          <a:xfrm>
            <a:off x="9954577" y="1345287"/>
            <a:ext cx="207526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87572" y="1907500"/>
            <a:ext cx="1922026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Aggregations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87572" y="2251353"/>
            <a:ext cx="7541657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SUM, COUNT, AVG for performance metrics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91833" y="3156109"/>
            <a:ext cx="7933134" cy="1248728"/>
          </a:xfrm>
          <a:prstGeom prst="roundRect">
            <a:avLst>
              <a:gd name="adj" fmla="val 8787"/>
            </a:avLst>
          </a:prstGeom>
          <a:solidFill>
            <a:srgbClr val="0A081B">
              <a:alpha val="7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091833" y="3133249"/>
            <a:ext cx="7933134" cy="91440"/>
          </a:xfrm>
          <a:prstGeom prst="roundRect">
            <a:avLst>
              <a:gd name="adj" fmla="val 283780"/>
            </a:avLst>
          </a:prstGeom>
          <a:solidFill>
            <a:srgbClr val="29DDDA"/>
          </a:solidFill>
          <a:ln/>
        </p:spPr>
      </p:sp>
      <p:sp>
        <p:nvSpPr>
          <p:cNvPr id="12" name="Shape 9"/>
          <p:cNvSpPr/>
          <p:nvPr/>
        </p:nvSpPr>
        <p:spPr>
          <a:xfrm>
            <a:off x="9798963" y="2896672"/>
            <a:ext cx="518874" cy="518874"/>
          </a:xfrm>
          <a:prstGeom prst="roundRect">
            <a:avLst>
              <a:gd name="adj" fmla="val 176228"/>
            </a:avLst>
          </a:prstGeom>
          <a:solidFill>
            <a:srgbClr val="16FFBB"/>
          </a:solidFill>
          <a:ln/>
        </p:spPr>
      </p:sp>
      <p:sp>
        <p:nvSpPr>
          <p:cNvPr id="13" name="Text 10"/>
          <p:cNvSpPr/>
          <p:nvPr/>
        </p:nvSpPr>
        <p:spPr>
          <a:xfrm>
            <a:off x="9954577" y="3026331"/>
            <a:ext cx="207526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87572" y="3588544"/>
            <a:ext cx="1922026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Window Functions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287572" y="3932396"/>
            <a:ext cx="7541657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RANK, PARTITION BY for comparative analysis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091833" y="4837152"/>
            <a:ext cx="7933134" cy="1248728"/>
          </a:xfrm>
          <a:prstGeom prst="roundRect">
            <a:avLst>
              <a:gd name="adj" fmla="val 8787"/>
            </a:avLst>
          </a:prstGeom>
          <a:solidFill>
            <a:srgbClr val="0A081B">
              <a:alpha val="7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091833" y="4814292"/>
            <a:ext cx="7933134" cy="91440"/>
          </a:xfrm>
          <a:prstGeom prst="roundRect">
            <a:avLst>
              <a:gd name="adj" fmla="val 283780"/>
            </a:avLst>
          </a:prstGeom>
          <a:solidFill>
            <a:srgbClr val="37A7E7"/>
          </a:solidFill>
          <a:ln/>
        </p:spPr>
      </p:sp>
      <p:sp>
        <p:nvSpPr>
          <p:cNvPr id="18" name="Shape 15"/>
          <p:cNvSpPr/>
          <p:nvPr/>
        </p:nvSpPr>
        <p:spPr>
          <a:xfrm>
            <a:off x="9798963" y="4577715"/>
            <a:ext cx="518874" cy="518874"/>
          </a:xfrm>
          <a:prstGeom prst="roundRect">
            <a:avLst>
              <a:gd name="adj" fmla="val 176228"/>
            </a:avLst>
          </a:prstGeom>
          <a:solidFill>
            <a:srgbClr val="16FFBB"/>
          </a:solidFill>
          <a:ln/>
        </p:spPr>
      </p:sp>
      <p:sp>
        <p:nvSpPr>
          <p:cNvPr id="19" name="Text 16"/>
          <p:cNvSpPr/>
          <p:nvPr/>
        </p:nvSpPr>
        <p:spPr>
          <a:xfrm>
            <a:off x="9954577" y="4707374"/>
            <a:ext cx="207526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287572" y="5269587"/>
            <a:ext cx="1922026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Date Functions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287572" y="5613440"/>
            <a:ext cx="7541657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EXTRACT, TO_CHAR for temporal insights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091833" y="6518196"/>
            <a:ext cx="7933134" cy="1248728"/>
          </a:xfrm>
          <a:prstGeom prst="roundRect">
            <a:avLst>
              <a:gd name="adj" fmla="val 8787"/>
            </a:avLst>
          </a:prstGeom>
          <a:solidFill>
            <a:srgbClr val="0A081B">
              <a:alpha val="75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091833" y="6495336"/>
            <a:ext cx="7933134" cy="91440"/>
          </a:xfrm>
          <a:prstGeom prst="roundRect">
            <a:avLst>
              <a:gd name="adj" fmla="val 283780"/>
            </a:avLst>
          </a:prstGeom>
          <a:solidFill>
            <a:srgbClr val="091231"/>
          </a:solidFill>
          <a:ln/>
        </p:spPr>
      </p:sp>
      <p:sp>
        <p:nvSpPr>
          <p:cNvPr id="24" name="Shape 21"/>
          <p:cNvSpPr/>
          <p:nvPr/>
        </p:nvSpPr>
        <p:spPr>
          <a:xfrm>
            <a:off x="9798963" y="6258758"/>
            <a:ext cx="518874" cy="518874"/>
          </a:xfrm>
          <a:prstGeom prst="roundRect">
            <a:avLst>
              <a:gd name="adj" fmla="val 176228"/>
            </a:avLst>
          </a:prstGeom>
          <a:solidFill>
            <a:srgbClr val="16FFBB"/>
          </a:solidFill>
          <a:ln/>
        </p:spPr>
      </p:sp>
      <p:sp>
        <p:nvSpPr>
          <p:cNvPr id="25" name="Text 22"/>
          <p:cNvSpPr/>
          <p:nvPr/>
        </p:nvSpPr>
        <p:spPr>
          <a:xfrm>
            <a:off x="9954577" y="6388417"/>
            <a:ext cx="207526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287572" y="6950631"/>
            <a:ext cx="1922026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Validation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287572" y="7294483"/>
            <a:ext cx="7541657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Cleaning and integrity queries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364813"/>
            <a:ext cx="729722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Business Recommendations</a:t>
            </a:r>
            <a:endParaRPr lang="en-US" sz="4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437" y="2420898"/>
            <a:ext cx="1234440" cy="14812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31693" y="266771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Loyalty Program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831693" y="3158728"/>
            <a:ext cx="593467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Reward top customers driving revenue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437" y="3902154"/>
            <a:ext cx="1234440" cy="14812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31693" y="4148971"/>
            <a:ext cx="29719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Inventory Optimization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831693" y="4639985"/>
            <a:ext cx="593467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Align stock with time-of-day and monthly patterns</a:t>
            </a:r>
            <a:endParaRPr lang="en-US" sz="1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437" y="5383411"/>
            <a:ext cx="1234440" cy="14812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31693" y="563022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Targeted Marketing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831693" y="6121241"/>
            <a:ext cx="593467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Leverage demographic insights for campaigns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510903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Limitations &amp; Future Directions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49960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Current Limitations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6350437" y="4089321"/>
            <a:ext cx="3406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external factors (holidays, weather)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50437" y="4965740"/>
            <a:ext cx="3406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Missing LTV metrics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50437" y="5447109"/>
            <a:ext cx="3406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Limited customer journey data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367129" y="349960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Next Steps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367129" y="4089321"/>
            <a:ext cx="3406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Time-series forecasting models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367129" y="4965740"/>
            <a:ext cx="3406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clustering analysis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367129" y="5842159"/>
            <a:ext cx="3406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Real-time analytics implementation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8163" y="1295400"/>
            <a:ext cx="7600474" cy="122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00"/>
              </a:lnSpc>
              <a:buNone/>
            </a:pPr>
            <a:r>
              <a:rPr lang="en-US" sz="7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Takeaways</a:t>
            </a:r>
            <a:endParaRPr lang="en-US" sz="7700" dirty="0"/>
          </a:p>
        </p:txBody>
      </p:sp>
      <p:sp>
        <p:nvSpPr>
          <p:cNvPr id="4" name="Shape 1"/>
          <p:cNvSpPr/>
          <p:nvPr/>
        </p:nvSpPr>
        <p:spPr>
          <a:xfrm>
            <a:off x="6258163" y="2851309"/>
            <a:ext cx="3689985" cy="1983581"/>
          </a:xfrm>
          <a:prstGeom prst="roundRect">
            <a:avLst>
              <a:gd name="adj" fmla="val 16676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01527" y="3094673"/>
            <a:ext cx="2450187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Data-Driven Insights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501527" y="3533180"/>
            <a:ext cx="3203258" cy="1058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SQL analysis reveals actionable patterns in sales and customer behavior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168652" y="2851309"/>
            <a:ext cx="3689985" cy="1983581"/>
          </a:xfrm>
          <a:prstGeom prst="roundRect">
            <a:avLst>
              <a:gd name="adj" fmla="val 16676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12016" y="3094673"/>
            <a:ext cx="2724507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Strategic Opportunities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412016" y="3533180"/>
            <a:ext cx="3203258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Clear paths for loyalty programs and inventory optimization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58163" y="5055394"/>
            <a:ext cx="7600474" cy="1278017"/>
          </a:xfrm>
          <a:prstGeom prst="roundRect">
            <a:avLst>
              <a:gd name="adj" fmla="val 25883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1527" y="5298758"/>
            <a:ext cx="259699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Foundation for Growth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501527" y="5737265"/>
            <a:ext cx="7113746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Robust methodology enables advanced analytics and forecasting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258163" y="6581418"/>
            <a:ext cx="7600474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Prepared by: Data Analytics Team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2025-12-03T08:46:23Z</dcterms:created>
  <dcterms:modified xsi:type="dcterms:W3CDTF">2025-12-03T08:46:23Z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1634310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S10.9.4</vt:lpwstr>
  </property>
</Properties>
</file>